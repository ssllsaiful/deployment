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  <p:sldId id="267" r:id="rId13"/>
    <p:sldId id="268" r:id="rId14"/>
  </p:sldIdLst>
  <p:sldSz cx="12192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1794" y="96"/>
      </p:cViewPr>
      <p:guideLst>
        <p:guide orient="horz" pos="288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2" y="2840569"/>
            <a:ext cx="7772400" cy="196003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5181600"/>
            <a:ext cx="64008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4" y="5875869"/>
            <a:ext cx="77724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4" y="3875620"/>
            <a:ext cx="77724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401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401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401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401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401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4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3" y="2133602"/>
            <a:ext cx="4038601" cy="603461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2133602"/>
            <a:ext cx="4038601" cy="603461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046818"/>
            <a:ext cx="4040188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899834"/>
            <a:ext cx="4040188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1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2046818"/>
            <a:ext cx="4041774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899834"/>
            <a:ext cx="4041774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1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364067"/>
            <a:ext cx="3008313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4" y="364069"/>
            <a:ext cx="5111749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913469"/>
            <a:ext cx="3008313" cy="6254751"/>
          </a:xfrm>
        </p:spPr>
        <p:txBody>
          <a:bodyPr/>
          <a:lstStyle>
            <a:lvl1pPr marL="0" indent="0">
              <a:buNone/>
              <a:defRPr sz="1401"/>
            </a:lvl1pPr>
            <a:lvl2pPr marL="457206" indent="0">
              <a:buNone/>
              <a:defRPr sz="1200"/>
            </a:lvl2pPr>
            <a:lvl3pPr marL="914411" indent="0">
              <a:buNone/>
              <a:defRPr sz="1001"/>
            </a:lvl3pPr>
            <a:lvl4pPr marL="1371617" indent="0">
              <a:buNone/>
              <a:defRPr sz="900"/>
            </a:lvl4pPr>
            <a:lvl5pPr marL="1828823" indent="0">
              <a:buNone/>
              <a:defRPr sz="900"/>
            </a:lvl5pPr>
            <a:lvl6pPr marL="2286029" indent="0">
              <a:buNone/>
              <a:defRPr sz="900"/>
            </a:lvl6pPr>
            <a:lvl7pPr marL="2743234" indent="0">
              <a:buNone/>
              <a:defRPr sz="900"/>
            </a:lvl7pPr>
            <a:lvl8pPr marL="3200440" indent="0">
              <a:buNone/>
              <a:defRPr sz="900"/>
            </a:lvl8pPr>
            <a:lvl9pPr marL="3657646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6400800"/>
            <a:ext cx="54864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17033"/>
            <a:ext cx="54864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7156451"/>
            <a:ext cx="5486400" cy="1073149"/>
          </a:xfrm>
        </p:spPr>
        <p:txBody>
          <a:bodyPr/>
          <a:lstStyle>
            <a:lvl1pPr marL="0" indent="0">
              <a:buNone/>
              <a:defRPr sz="1401"/>
            </a:lvl1pPr>
            <a:lvl2pPr marL="457206" indent="0">
              <a:buNone/>
              <a:defRPr sz="1200"/>
            </a:lvl2pPr>
            <a:lvl3pPr marL="914411" indent="0">
              <a:buNone/>
              <a:defRPr sz="1001"/>
            </a:lvl3pPr>
            <a:lvl4pPr marL="1371617" indent="0">
              <a:buNone/>
              <a:defRPr sz="900"/>
            </a:lvl4pPr>
            <a:lvl5pPr marL="1828823" indent="0">
              <a:buNone/>
              <a:defRPr sz="900"/>
            </a:lvl5pPr>
            <a:lvl6pPr marL="2286029" indent="0">
              <a:buNone/>
              <a:defRPr sz="900"/>
            </a:lvl6pPr>
            <a:lvl7pPr marL="2743234" indent="0">
              <a:buNone/>
              <a:defRPr sz="900"/>
            </a:lvl7pPr>
            <a:lvl8pPr marL="3200440" indent="0">
              <a:buNone/>
              <a:defRPr sz="900"/>
            </a:lvl8pPr>
            <a:lvl9pPr marL="3657646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1" y="366186"/>
            <a:ext cx="2057401" cy="780203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2" y="366186"/>
            <a:ext cx="6019801" cy="78020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66184"/>
            <a:ext cx="82296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33602"/>
            <a:ext cx="8229600" cy="60346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8475136"/>
            <a:ext cx="2133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2" y="8475136"/>
            <a:ext cx="2895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8475136"/>
            <a:ext cx="21336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6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4" indent="-342904" algn="l" defTabSz="457206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9" indent="-285753" algn="l" defTabSz="457206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457206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457206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457206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457206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457206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457206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457206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45720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45720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45720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45720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45720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45720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45720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45720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2" y="3154680"/>
            <a:ext cx="10360153" cy="1292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009688"/>
                </a:solidFill>
                <a:latin typeface="Arial"/>
              </a:defRPr>
            </a:pPr>
            <a:r>
              <a:rPr sz="4400" dirty="0"/>
              <a:t>Next.js Frontend Deployment</a:t>
            </a:r>
          </a:p>
          <a:p>
            <a:pPr>
              <a:defRPr sz="1400"/>
            </a:pPr>
            <a:endParaRPr sz="1401" dirty="0"/>
          </a:p>
          <a:p>
            <a:pPr algn="l">
              <a:defRPr sz="2000">
                <a:solidFill>
                  <a:srgbClr val="F0F0F0"/>
                </a:solidFill>
                <a:latin typeface="Arial"/>
              </a:defRPr>
            </a:pPr>
            <a:r>
              <a:rPr sz="2000" dirty="0"/>
              <a:t>Step-by-Step Production Guide on Ubuntu Server via PM2 &amp; Nginx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/>
          <p:cNvSpPr txBox="1"/>
          <p:nvPr/>
        </p:nvSpPr>
        <p:spPr>
          <a:xfrm>
            <a:off x="914402" y="1600204"/>
            <a:ext cx="10360153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/>
              <a:t>PREREQUISITES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2" y="1965962"/>
            <a:ext cx="103601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/>
              <a:t>Required Credentials &amp; Access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2" y="2788921"/>
            <a:ext cx="10360153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Ensure you have the server public IP address and the SSH login credential (private .pem key or root password).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Point your domain names (DNS A records) directly to your server's IP address.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Verify you have access to pull the code from the Git repository on the server.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Gather any frontend environment variables (like API endpoint URLs) to copy into your .env configuration file.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/>
          <p:cNvSpPr txBox="1"/>
          <p:nvPr/>
        </p:nvSpPr>
        <p:spPr>
          <a:xfrm>
            <a:off x="914402" y="1600204"/>
            <a:ext cx="10360153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/>
              <a:t>STEP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2" y="1965962"/>
            <a:ext cx="103601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/>
              <a:t>Establish SSH Connection &amp; Update Server Packages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2" y="2788919"/>
            <a:ext cx="10360153" cy="1980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Open your local terminal (macOS/Linux) or PowerShell (Windows).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Connect to the server using SSH: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/>
              <a:t>•    $ ssh -i /path/to/key.pem ubuntu@your_server_ip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Update system libraries to ensure security patches are applied: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/>
              <a:t>•    $ sudo apt update &amp;&amp; sudo apt upgrade -y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/>
          <p:cNvSpPr txBox="1"/>
          <p:nvPr/>
        </p:nvSpPr>
        <p:spPr>
          <a:xfrm>
            <a:off x="914402" y="1600204"/>
            <a:ext cx="10360153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/>
              <a:t>STEP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2" y="1965962"/>
            <a:ext cx="103601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/>
              <a:t>Install Node.js Version Manager (NVM) &amp; Node.js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2" y="2788922"/>
            <a:ext cx="10360153" cy="2770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Install NVM on the server to isolate and manage Node.js runtimes: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/>
              <a:t>•    $ curl -o- https://raw.githubusercontent.com/nvm-sh/nvm/v0.39.7/install.sh | bash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Reload environment settings to enable the nvm command: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/>
              <a:t>•    $ source ~/.bashrc   (or export NVM variables directly in terminal)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Install Node.js version 20 (LTS):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/>
              <a:t>•    $ nvm install 20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/>
              <a:t>•  Confirm node and npm installations using 'node -v' and 'npm -v'.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/>
          <p:cNvSpPr txBox="1"/>
          <p:nvPr/>
        </p:nvSpPr>
        <p:spPr>
          <a:xfrm>
            <a:off x="914402" y="1600204"/>
            <a:ext cx="10360153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/>
              <a:t>STEP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2" y="1965962"/>
            <a:ext cx="103601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 dirty="0"/>
              <a:t>Create Directory, Clone Repo, &amp; Setup Env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5" y="2798067"/>
            <a:ext cx="10360153" cy="2801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Create the deployment folder and adjust ownership rules to avoid permission errors: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  $ </a:t>
            </a:r>
            <a:r>
              <a:rPr sz="1401" dirty="0" err="1"/>
              <a:t>sudo</a:t>
            </a:r>
            <a:r>
              <a:rPr sz="1401" dirty="0"/>
              <a:t> </a:t>
            </a:r>
            <a:r>
              <a:rPr sz="1401" dirty="0" err="1"/>
              <a:t>mkdir</a:t>
            </a:r>
            <a:r>
              <a:rPr sz="1401" dirty="0"/>
              <a:t> -p /home/ubuntu/frontend &amp;&amp; </a:t>
            </a:r>
            <a:r>
              <a:rPr sz="1401" dirty="0" err="1"/>
              <a:t>sudo</a:t>
            </a:r>
            <a:r>
              <a:rPr sz="1401" dirty="0"/>
              <a:t> </a:t>
            </a:r>
            <a:r>
              <a:rPr sz="1401" dirty="0" err="1"/>
              <a:t>chown</a:t>
            </a:r>
            <a:r>
              <a:rPr sz="1401" dirty="0"/>
              <a:t> -R $USER:$USER /home/ubuntu/frontend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Navigate into the folder and clone your repository: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  $ cd /home/ubuntu/frontend &amp;&amp; git clone &lt;</a:t>
            </a:r>
            <a:r>
              <a:rPr sz="1401" dirty="0" err="1"/>
              <a:t>your_repository_url</a:t>
            </a:r>
            <a:r>
              <a:rPr sz="1401" dirty="0"/>
              <a:t>&gt; </a:t>
            </a:r>
            <a:r>
              <a:rPr sz="1401" dirty="0" err="1"/>
              <a:t>projectname</a:t>
            </a:r>
            <a:endParaRPr sz="1401" dirty="0"/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Navigate to project root, create a production environment variables file: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  $ cd </a:t>
            </a:r>
            <a:r>
              <a:rPr sz="1401" dirty="0" err="1"/>
              <a:t>projectname</a:t>
            </a:r>
            <a:r>
              <a:rPr sz="1401" dirty="0"/>
              <a:t> &amp;&amp; nano .env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Add required configurations (e.g. NODE_ENV=production, NEXT_PUBLIC_API_URL=...) and save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/>
          <p:cNvSpPr txBox="1"/>
          <p:nvPr/>
        </p:nvSpPr>
        <p:spPr>
          <a:xfrm>
            <a:off x="914402" y="1600204"/>
            <a:ext cx="10360153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/>
              <a:t>STEP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2" y="1965962"/>
            <a:ext cx="103601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/>
              <a:t>Install Project Dependencies &amp; Build Next.js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2" y="2788923"/>
            <a:ext cx="10360153" cy="2406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Install local dependencies including devDependencies needed to build the Next.js code: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/>
              <a:t>•    $ npm install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Build the Next.js production bundle: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/>
              <a:t>•    $ npm run build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This compiles static pages, components, CSS styles, and templates inside the hidden '.next' directory.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/>
              <a:t>•  Verify build is completed successfully without errors.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/>
          <p:cNvSpPr txBox="1"/>
          <p:nvPr/>
        </p:nvSpPr>
        <p:spPr>
          <a:xfrm>
            <a:off x="914402" y="1600204"/>
            <a:ext cx="10360153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/>
              <a:t>STEP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2" y="1965962"/>
            <a:ext cx="103601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/>
              <a:t>Configure PM2 Process Manager &amp; Ecosystem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2" y="2788922"/>
            <a:ext cx="10360153" cy="5192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Install PM2 globally on the server to monitor processes: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  $ </a:t>
            </a:r>
            <a:r>
              <a:rPr sz="1401" dirty="0" err="1"/>
              <a:t>sudo</a:t>
            </a:r>
            <a:r>
              <a:rPr sz="1401" dirty="0"/>
              <a:t> </a:t>
            </a:r>
            <a:r>
              <a:rPr sz="1401" dirty="0" err="1"/>
              <a:t>npm</a:t>
            </a:r>
            <a:r>
              <a:rPr sz="1401" dirty="0"/>
              <a:t> install pm2 -g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Create a configuration file 'ecosystem.config.js' at the root of the project: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  $ nano ecosystem.config.js</a:t>
            </a:r>
            <a:endParaRPr lang="en-US" sz="1401" dirty="0"/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lang="en-US" sz="1401" dirty="0"/>
              <a:t>===================================</a:t>
            </a:r>
          </a:p>
          <a:p>
            <a:r>
              <a:rPr lang="en-US" sz="1801" dirty="0"/>
              <a:t>  apps: [{</a:t>
            </a:r>
          </a:p>
          <a:p>
            <a:r>
              <a:rPr lang="en-US" sz="1801" dirty="0"/>
              <a:t>    name: "frontend",</a:t>
            </a:r>
          </a:p>
          <a:p>
            <a:r>
              <a:rPr lang="en-US" sz="1801" dirty="0"/>
              <a:t>    script: "</a:t>
            </a:r>
            <a:r>
              <a:rPr lang="en-US" sz="1801" dirty="0" err="1"/>
              <a:t>npm</a:t>
            </a:r>
            <a:r>
              <a:rPr lang="en-US" sz="1801" dirty="0"/>
              <a:t>",</a:t>
            </a:r>
          </a:p>
          <a:p>
            <a:r>
              <a:rPr lang="en-US" sz="1801" dirty="0"/>
              <a:t>    </a:t>
            </a:r>
            <a:r>
              <a:rPr lang="en-US" sz="1801" dirty="0" err="1"/>
              <a:t>args</a:t>
            </a:r>
            <a:r>
              <a:rPr lang="en-US" sz="1801" dirty="0"/>
              <a:t>: "start"</a:t>
            </a:r>
          </a:p>
          <a:p>
            <a:r>
              <a:rPr lang="en-US" sz="1801" dirty="0"/>
              <a:t>  }]</a:t>
            </a:r>
          </a:p>
          <a:p>
            <a:r>
              <a:rPr lang="en-US" sz="1801" dirty="0"/>
              <a:t>};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lang="en-US" sz="1401" dirty="0"/>
              <a:t>====================================</a:t>
            </a:r>
            <a:endParaRPr sz="1401" dirty="0"/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Add app configurations, specifying name as 'frontend', script as '</a:t>
            </a:r>
            <a:r>
              <a:rPr sz="1401" dirty="0" err="1"/>
              <a:t>npm</a:t>
            </a:r>
            <a:r>
              <a:rPr sz="1401" dirty="0"/>
              <a:t>', and </a:t>
            </a:r>
            <a:r>
              <a:rPr sz="1401" dirty="0" err="1"/>
              <a:t>args</a:t>
            </a:r>
            <a:r>
              <a:rPr sz="1401" dirty="0"/>
              <a:t> as 'start'.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Start the frontend using the ecosystem file:   $ pm2 start ecosystem.config.js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Save the configuration and check status:   $ pm2 save &amp;&amp; pm2 status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/>
          <p:cNvSpPr txBox="1"/>
          <p:nvPr/>
        </p:nvSpPr>
        <p:spPr>
          <a:xfrm>
            <a:off x="466346" y="1600204"/>
            <a:ext cx="10808208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 dirty="0"/>
              <a:t>STEP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6" y="1965962"/>
            <a:ext cx="109270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 dirty="0"/>
              <a:t>Reverse Proxy Configuration (</a:t>
            </a:r>
            <a:r>
              <a:rPr sz="2800" dirty="0" err="1"/>
              <a:t>CloudPanel</a:t>
            </a:r>
            <a:r>
              <a:rPr sz="2800" dirty="0"/>
              <a:t> vs Nginx)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5" y="2788921"/>
            <a:ext cx="11844222" cy="6560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dirty="0"/>
              <a:t>•  Option A (</a:t>
            </a:r>
            <a:r>
              <a:rPr dirty="0" err="1"/>
              <a:t>CloudPanel</a:t>
            </a:r>
            <a:r>
              <a:rPr dirty="0"/>
              <a:t>): Add a Reverse Proxy site for your domain pointing to port 3000, and generate SSL.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dirty="0"/>
              <a:t>•  Option B (Manual Nginx): Verify or install Nginx: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600" dirty="0"/>
              <a:t>•    $ </a:t>
            </a:r>
            <a:r>
              <a:rPr sz="1600" dirty="0" err="1"/>
              <a:t>sudo</a:t>
            </a:r>
            <a:r>
              <a:rPr sz="1600" dirty="0"/>
              <a:t> apt update &amp;&amp; </a:t>
            </a:r>
            <a:r>
              <a:rPr sz="1600" dirty="0" err="1"/>
              <a:t>sudo</a:t>
            </a:r>
            <a:r>
              <a:rPr sz="1600" dirty="0"/>
              <a:t> apt install nginx -y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600" dirty="0"/>
              <a:t>•  Create a file in sites-available:   $ </a:t>
            </a:r>
            <a:r>
              <a:rPr sz="1600" dirty="0" err="1"/>
              <a:t>sudo</a:t>
            </a:r>
            <a:r>
              <a:rPr sz="1600" dirty="0"/>
              <a:t> nano /etc/nginx/sites-available/frontend.example.com</a:t>
            </a:r>
            <a:endParaRPr lang="en-US" sz="1600" dirty="0"/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lang="en-US" sz="1600" dirty="0"/>
              <a:t>================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{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listen 80;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server_name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frontend.example.com;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location / {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proxy_pass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http://localhost:3000;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proxy_http_version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1.1;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proxy_set_header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Upgrade $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http_upgrade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proxy_set_header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Connection 'upgrade';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proxy_set_header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Host $host;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proxy_cache_bypass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$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http_upgrade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# Real IP headers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proxy_set_header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X-Real-IP $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remote_addr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proxy_set_header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X-Forwarded-For $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proxy_add_x_forwarded_for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   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proxy_set_header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X-Forwarded-Proto $scheme;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   }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endParaRPr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0924E3-715A-D6E1-E36C-7133447F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87A3E0-3ACD-B35C-F17E-09A674D70D3E}"/>
              </a:ext>
            </a:extLst>
          </p:cNvPr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4951A8-8E61-4DE2-6918-EA1F10864F10}"/>
              </a:ext>
            </a:extLst>
          </p:cNvPr>
          <p:cNvSpPr txBox="1"/>
          <p:nvPr/>
        </p:nvSpPr>
        <p:spPr>
          <a:xfrm>
            <a:off x="316995" y="1532182"/>
            <a:ext cx="11844222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lang="en-US" dirty="0"/>
              <a:t>•  Add a server block listening on port 80 proxying requests to http://localhost:3000.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lang="en-US" sz="1400" dirty="0"/>
              <a:t>•  Link config to sites-enabled:   $ </a:t>
            </a:r>
            <a:r>
              <a:rPr lang="en-US" sz="1400" dirty="0" err="1"/>
              <a:t>sudo</a:t>
            </a:r>
            <a:r>
              <a:rPr lang="en-US" sz="1400" dirty="0"/>
              <a:t> ln -s /</a:t>
            </a:r>
            <a:r>
              <a:rPr lang="en-US" sz="1400" dirty="0" err="1"/>
              <a:t>etc</a:t>
            </a:r>
            <a:r>
              <a:rPr lang="en-US" sz="1400" dirty="0"/>
              <a:t>/nginx/sites-available/ frontend.example.com /</a:t>
            </a:r>
            <a:r>
              <a:rPr lang="en-US" sz="1400" dirty="0" err="1"/>
              <a:t>etc</a:t>
            </a:r>
            <a:r>
              <a:rPr lang="en-US" sz="1400" dirty="0"/>
              <a:t>/nginx/sites-enabled/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lang="en-US" sz="1600" dirty="0"/>
              <a:t>•  Test settings and restart Nginx:   $ </a:t>
            </a:r>
            <a:r>
              <a:rPr lang="en-US" sz="1600" dirty="0" err="1"/>
              <a:t>sudo</a:t>
            </a:r>
            <a:r>
              <a:rPr lang="en-US" sz="1600" dirty="0"/>
              <a:t> nginx -t &amp;&amp; </a:t>
            </a:r>
            <a:r>
              <a:rPr lang="en-US" sz="1600" dirty="0" err="1"/>
              <a:t>sudo</a:t>
            </a:r>
            <a:r>
              <a:rPr lang="en-US" sz="1600" dirty="0"/>
              <a:t> </a:t>
            </a:r>
            <a:r>
              <a:rPr lang="en-US" sz="1600" dirty="0" err="1"/>
              <a:t>systemctl</a:t>
            </a:r>
            <a:r>
              <a:rPr lang="en-US" sz="1600" dirty="0"/>
              <a:t> restart nginx</a:t>
            </a:r>
          </a:p>
        </p:txBody>
      </p:sp>
    </p:spTree>
    <p:extLst>
      <p:ext uri="{BB962C8B-B14F-4D97-AF65-F5344CB8AC3E}">
        <p14:creationId xmlns:p14="http://schemas.microsoft.com/office/powerpoint/2010/main" val="1743210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/>
          <p:cNvSpPr txBox="1"/>
          <p:nvPr/>
        </p:nvSpPr>
        <p:spPr>
          <a:xfrm>
            <a:off x="914402" y="1600204"/>
            <a:ext cx="10360153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/>
              <a:t>STEP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2" y="1965961"/>
            <a:ext cx="103601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/>
              <a:t>Enable SSL (HTTPS) with Certbot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2" y="2788922"/>
            <a:ext cx="10360153" cy="2375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Install </a:t>
            </a:r>
            <a:r>
              <a:rPr sz="1600" dirty="0" err="1"/>
              <a:t>Certbot</a:t>
            </a:r>
            <a:r>
              <a:rPr sz="1600" dirty="0"/>
              <a:t> and the Nginx helper package on the server: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  $ </a:t>
            </a:r>
            <a:r>
              <a:rPr sz="1401" dirty="0" err="1"/>
              <a:t>sudo</a:t>
            </a:r>
            <a:r>
              <a:rPr sz="1401" dirty="0"/>
              <a:t> apt install </a:t>
            </a:r>
            <a:r>
              <a:rPr sz="1401" dirty="0" err="1"/>
              <a:t>certbot</a:t>
            </a:r>
            <a:r>
              <a:rPr sz="1401" dirty="0"/>
              <a:t> python3-certbot-nginx -y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Generate Let's Encrypt certificates and auto-configure Nginx: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  $ </a:t>
            </a:r>
            <a:r>
              <a:rPr sz="1401" dirty="0" err="1"/>
              <a:t>sudo</a:t>
            </a:r>
            <a:r>
              <a:rPr sz="1401" dirty="0"/>
              <a:t> </a:t>
            </a:r>
            <a:r>
              <a:rPr sz="1401" dirty="0" err="1"/>
              <a:t>certbot</a:t>
            </a:r>
            <a:r>
              <a:rPr sz="1401" dirty="0"/>
              <a:t> --nginx -d frontend.example.com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Select options to redirect all traffic to HTTPS automatically.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Test automatic renewal configuration:   $ </a:t>
            </a:r>
            <a:r>
              <a:rPr sz="1401" dirty="0" err="1"/>
              <a:t>sudo</a:t>
            </a:r>
            <a:r>
              <a:rPr sz="1401" dirty="0"/>
              <a:t> </a:t>
            </a:r>
            <a:r>
              <a:rPr sz="1401" dirty="0" err="1"/>
              <a:t>certbot</a:t>
            </a:r>
            <a:r>
              <a:rPr sz="1401" dirty="0"/>
              <a:t> renew --dry-run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/>
          <p:cNvSpPr txBox="1"/>
          <p:nvPr/>
        </p:nvSpPr>
        <p:spPr>
          <a:xfrm>
            <a:off x="310899" y="1600204"/>
            <a:ext cx="10963657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/>
              <a:t>STEP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9" y="1965962"/>
            <a:ext cx="109636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 dirty="0"/>
              <a:t>Automate Deployment via 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90" y="2788924"/>
            <a:ext cx="11622025" cy="2226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Set up repository secrets in GitHub settings: SSH_HOST, SSH_USER, and SSH_KEY.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Create a workflow file in local project: .</a:t>
            </a:r>
            <a:r>
              <a:rPr sz="1600" dirty="0" err="1"/>
              <a:t>github</a:t>
            </a:r>
            <a:r>
              <a:rPr sz="1600" dirty="0"/>
              <a:t>/workflows/</a:t>
            </a:r>
            <a:r>
              <a:rPr sz="1600" dirty="0" err="1"/>
              <a:t>deploy.yml</a:t>
            </a:r>
            <a:endParaRPr sz="1600" dirty="0"/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Configure a push action workflow for the 'main' branch.</a:t>
            </a:r>
          </a:p>
          <a:p>
            <a:pPr>
              <a:spcAft>
                <a:spcPts val="1401"/>
              </a:spcAft>
              <a:defRPr sz="1400">
                <a:solidFill>
                  <a:srgbClr val="1E293B"/>
                </a:solidFill>
                <a:latin typeface="Courier New"/>
              </a:defRPr>
            </a:pPr>
            <a:r>
              <a:rPr sz="1401" dirty="0"/>
              <a:t>•  Define deployment steps: SSH into server, git pull, </a:t>
            </a:r>
            <a:r>
              <a:rPr sz="1401" dirty="0" err="1"/>
              <a:t>npm</a:t>
            </a:r>
            <a:r>
              <a:rPr sz="1401" dirty="0"/>
              <a:t> install, </a:t>
            </a:r>
            <a:r>
              <a:rPr sz="1401" dirty="0" err="1"/>
              <a:t>npm</a:t>
            </a:r>
            <a:r>
              <a:rPr sz="1401" dirty="0"/>
              <a:t> run build, pm2 restart ecosystem.config.js.</a:t>
            </a:r>
          </a:p>
          <a:p>
            <a:pPr>
              <a:spcAft>
                <a:spcPts val="1401"/>
              </a:spcAft>
              <a:defRPr sz="1600">
                <a:solidFill>
                  <a:srgbClr val="142030"/>
                </a:solidFill>
                <a:latin typeface="Arial"/>
              </a:defRPr>
            </a:pPr>
            <a:r>
              <a:rPr sz="1600" dirty="0"/>
              <a:t>•  Commit and push </a:t>
            </a:r>
            <a:r>
              <a:rPr sz="1600" dirty="0" err="1"/>
              <a:t>deploy.yml</a:t>
            </a:r>
            <a:r>
              <a:rPr sz="1600" dirty="0"/>
              <a:t> to automatically trigger and verify deployment on push.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991FCA-51FE-B449-CB4A-76AA33BC9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280B1C-A91F-4933-8FF7-4AE86D3F4FC7}"/>
              </a:ext>
            </a:extLst>
          </p:cNvPr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E289EE-7733-4863-2F40-0370A85679E3}"/>
              </a:ext>
            </a:extLst>
          </p:cNvPr>
          <p:cNvSpPr txBox="1"/>
          <p:nvPr/>
        </p:nvSpPr>
        <p:spPr>
          <a:xfrm>
            <a:off x="310899" y="1319788"/>
            <a:ext cx="10963657" cy="307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9688"/>
                </a:solidFill>
                <a:latin typeface="Arial"/>
              </a:defRPr>
            </a:pPr>
            <a:r>
              <a:rPr sz="1401" dirty="0"/>
              <a:t>STEP 08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13F10B-5394-2906-DCBD-513F811A3A18}"/>
              </a:ext>
            </a:extLst>
          </p:cNvPr>
          <p:cNvSpPr txBox="1"/>
          <p:nvPr/>
        </p:nvSpPr>
        <p:spPr>
          <a:xfrm>
            <a:off x="310899" y="1636778"/>
            <a:ext cx="109636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42030"/>
                </a:solidFill>
                <a:latin typeface="Arial"/>
              </a:defRPr>
            </a:pPr>
            <a:r>
              <a:rPr sz="2800" dirty="0"/>
              <a:t>Automate Deployment via GitHub Actions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ACA4B2-DB0C-AA94-6588-5DF6EB15FF20}"/>
              </a:ext>
            </a:extLst>
          </p:cNvPr>
          <p:cNvSpPr txBox="1"/>
          <p:nvPr/>
        </p:nvSpPr>
        <p:spPr>
          <a:xfrm>
            <a:off x="310898" y="2108125"/>
            <a:ext cx="11686032" cy="7032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name: Deploy Next.js Frontend</a:t>
            </a:r>
          </a:p>
          <a:p>
            <a:endParaRPr lang="en-US" sz="1100" dirty="0"/>
          </a:p>
          <a:p>
            <a:r>
              <a:rPr lang="en-US" sz="1100" dirty="0"/>
              <a:t>on:</a:t>
            </a:r>
          </a:p>
          <a:p>
            <a:r>
              <a:rPr lang="en-US" sz="1100" dirty="0"/>
              <a:t>  push:</a:t>
            </a:r>
          </a:p>
          <a:p>
            <a:r>
              <a:rPr lang="en-US" sz="1100" dirty="0"/>
              <a:t>    branches:</a:t>
            </a:r>
          </a:p>
          <a:p>
            <a:r>
              <a:rPr lang="en-US" sz="1100" dirty="0"/>
              <a:t>      - main  # Trigger workflow when pushing to main branch</a:t>
            </a:r>
          </a:p>
          <a:p>
            <a:endParaRPr lang="en-US" sz="1100" dirty="0"/>
          </a:p>
          <a:p>
            <a:r>
              <a:rPr lang="en-US" sz="1100" dirty="0"/>
              <a:t>jobs:</a:t>
            </a:r>
          </a:p>
          <a:p>
            <a:r>
              <a:rPr lang="en-US" sz="1100" dirty="0"/>
              <a:t>  deploy:</a:t>
            </a:r>
          </a:p>
          <a:p>
            <a:r>
              <a:rPr lang="en-US" sz="1100" dirty="0"/>
              <a:t>    runs-on: ubuntu-latest</a:t>
            </a:r>
          </a:p>
          <a:p>
            <a:endParaRPr lang="en-US" sz="1100" dirty="0"/>
          </a:p>
          <a:p>
            <a:r>
              <a:rPr lang="en-US" sz="1100" dirty="0"/>
              <a:t>    steps:</a:t>
            </a:r>
          </a:p>
          <a:p>
            <a:r>
              <a:rPr lang="en-US" sz="1100" dirty="0"/>
              <a:t>      - name: Checkout Code</a:t>
            </a:r>
          </a:p>
          <a:p>
            <a:r>
              <a:rPr lang="en-US" sz="1100" dirty="0"/>
              <a:t>        uses: actions/checkout@v4</a:t>
            </a:r>
            <a:br>
              <a:rPr lang="en-US" sz="1100" dirty="0"/>
            </a:br>
            <a:endParaRPr lang="en-US" sz="1100" dirty="0"/>
          </a:p>
          <a:p>
            <a:r>
              <a:rPr lang="en-US" sz="1100" dirty="0"/>
              <a:t>      - name: Deploy to Ubuntu Server via SSH</a:t>
            </a:r>
          </a:p>
          <a:p>
            <a:r>
              <a:rPr lang="en-US" sz="1100" dirty="0"/>
              <a:t>        uses: </a:t>
            </a:r>
            <a:r>
              <a:rPr lang="en-US" sz="1100" dirty="0" err="1"/>
              <a:t>appleboy</a:t>
            </a:r>
            <a:r>
              <a:rPr lang="en-US" sz="1100" dirty="0"/>
              <a:t>/</a:t>
            </a:r>
            <a:r>
              <a:rPr lang="en-US" sz="1100" dirty="0" err="1"/>
              <a:t>ssh-action@master</a:t>
            </a:r>
            <a:endParaRPr lang="en-US" sz="1100" dirty="0"/>
          </a:p>
          <a:p>
            <a:r>
              <a:rPr lang="en-US" sz="1100" dirty="0"/>
              <a:t>        with:</a:t>
            </a:r>
          </a:p>
          <a:p>
            <a:r>
              <a:rPr lang="en-US" sz="1100" dirty="0"/>
              <a:t>          host: ${{ </a:t>
            </a:r>
            <a:r>
              <a:rPr lang="en-US" sz="1100" dirty="0" err="1"/>
              <a:t>secrets.SSH_HOST</a:t>
            </a:r>
            <a:r>
              <a:rPr lang="en-US" sz="1100" dirty="0"/>
              <a:t> }}</a:t>
            </a:r>
          </a:p>
          <a:p>
            <a:r>
              <a:rPr lang="en-US" sz="1100" dirty="0"/>
              <a:t>          username: ${{ </a:t>
            </a:r>
            <a:r>
              <a:rPr lang="en-US" sz="1100" dirty="0" err="1"/>
              <a:t>secrets.SSH_USER</a:t>
            </a:r>
            <a:r>
              <a:rPr lang="en-US" sz="1100" dirty="0"/>
              <a:t> }}</a:t>
            </a:r>
          </a:p>
          <a:p>
            <a:r>
              <a:rPr lang="en-US" sz="1100" dirty="0"/>
              <a:t>          key: ${{ </a:t>
            </a:r>
            <a:r>
              <a:rPr lang="en-US" sz="1100" dirty="0" err="1"/>
              <a:t>secrets.SSH_KEY</a:t>
            </a:r>
            <a:r>
              <a:rPr lang="en-US" sz="1100" dirty="0"/>
              <a:t> }}</a:t>
            </a:r>
          </a:p>
          <a:p>
            <a:r>
              <a:rPr lang="en-US" sz="1100" dirty="0"/>
              <a:t>          script: |</a:t>
            </a:r>
          </a:p>
          <a:p>
            <a:r>
              <a:rPr lang="en-US" sz="1100" dirty="0"/>
              <a:t>            # Navigate to project directory</a:t>
            </a:r>
          </a:p>
          <a:p>
            <a:r>
              <a:rPr lang="en-US" sz="1100" dirty="0"/>
              <a:t>            cd /home/ubuntu/frontend/</a:t>
            </a:r>
            <a:r>
              <a:rPr lang="en-US" sz="1100" dirty="0" err="1"/>
              <a:t>projectname</a:t>
            </a:r>
            <a:endParaRPr lang="en-US" sz="1100" dirty="0"/>
          </a:p>
          <a:p>
            <a:endParaRPr lang="en-US" sz="1100" dirty="0"/>
          </a:p>
          <a:p>
            <a:r>
              <a:rPr lang="en-US" sz="1100" dirty="0"/>
              <a:t>            # Pull latest changes from the repository</a:t>
            </a:r>
          </a:p>
          <a:p>
            <a:r>
              <a:rPr lang="en-US" sz="1100" dirty="0"/>
              <a:t>            git pull origin main</a:t>
            </a:r>
            <a:br>
              <a:rPr lang="en-US" sz="1100" dirty="0"/>
            </a:br>
            <a:endParaRPr lang="en-US" sz="1100" dirty="0"/>
          </a:p>
          <a:p>
            <a:r>
              <a:rPr lang="en-US" sz="1100" dirty="0"/>
              <a:t>            # Install dependencies</a:t>
            </a:r>
          </a:p>
          <a:p>
            <a:r>
              <a:rPr lang="en-US" sz="1100" dirty="0"/>
              <a:t>            </a:t>
            </a:r>
            <a:r>
              <a:rPr lang="en-US" sz="1100" dirty="0" err="1"/>
              <a:t>npm</a:t>
            </a:r>
            <a:r>
              <a:rPr lang="en-US" sz="1100" dirty="0"/>
              <a:t> install</a:t>
            </a:r>
          </a:p>
          <a:p>
            <a:br>
              <a:rPr lang="en-US" sz="1100" dirty="0"/>
            </a:br>
            <a:endParaRPr lang="en-US" sz="1100" dirty="0"/>
          </a:p>
          <a:p>
            <a:r>
              <a:rPr lang="en-US" sz="1100" dirty="0"/>
              <a:t>            # Build production Next.js files</a:t>
            </a:r>
          </a:p>
          <a:p>
            <a:r>
              <a:rPr lang="en-US" sz="1100" dirty="0"/>
              <a:t>            </a:t>
            </a:r>
            <a:r>
              <a:rPr lang="en-US" sz="1100" dirty="0" err="1"/>
              <a:t>npm</a:t>
            </a:r>
            <a:r>
              <a:rPr lang="en-US" sz="1100" dirty="0"/>
              <a:t> run build</a:t>
            </a:r>
          </a:p>
          <a:p>
            <a:br>
              <a:rPr lang="en-US" sz="1100" dirty="0"/>
            </a:br>
            <a:endParaRPr lang="en-US" sz="1100" dirty="0"/>
          </a:p>
          <a:p>
            <a:r>
              <a:rPr lang="en-US" sz="1100" dirty="0"/>
              <a:t>            # Restart the application with PM2 using config</a:t>
            </a:r>
          </a:p>
          <a:p>
            <a:r>
              <a:rPr lang="en-US" sz="1100" dirty="0"/>
              <a:t>            pm2 restart ecosystem.config.js</a:t>
            </a:r>
          </a:p>
          <a:p>
            <a:r>
              <a:rPr lang="en-US" sz="1100" dirty="0"/>
              <a:t>```</a:t>
            </a:r>
          </a:p>
          <a:p>
            <a:r>
              <a:rPr lang="en-US" sz="1100" i="1" dirty="0"/>
              <a:t>*(Note: Replace `</a:t>
            </a:r>
            <a:r>
              <a:rPr lang="en-US" sz="1100" i="1" dirty="0" err="1"/>
              <a:t>projectname</a:t>
            </a:r>
            <a:r>
              <a:rPr lang="en-US" sz="1100" i="1" dirty="0"/>
              <a:t>` with your actual project directory name).*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1511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82F2A6-A295-5A62-394D-F8F30E39B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C02AB7-54D0-4470-7106-0A7A0EAF48A4}"/>
              </a:ext>
            </a:extLst>
          </p:cNvPr>
          <p:cNvSpPr/>
          <p:nvPr/>
        </p:nvSpPr>
        <p:spPr>
          <a:xfrm>
            <a:off x="2" y="1143002"/>
            <a:ext cx="12191694" cy="137161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646DBF-40D7-CE54-3438-EC112D66DEB5}"/>
              </a:ext>
            </a:extLst>
          </p:cNvPr>
          <p:cNvSpPr txBox="1"/>
          <p:nvPr/>
        </p:nvSpPr>
        <p:spPr>
          <a:xfrm>
            <a:off x="310898" y="2108125"/>
            <a:ext cx="11686032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100" dirty="0"/>
          </a:p>
          <a:p>
            <a:r>
              <a:rPr lang="en-US" sz="1600" b="1" dirty="0"/>
              <a:t>### 9.3 Commit and Push</a:t>
            </a:r>
            <a:endParaRPr lang="en-US" sz="1600" dirty="0"/>
          </a:p>
          <a:p>
            <a:r>
              <a:rPr lang="en-US" sz="1400" dirty="0"/>
              <a:t>Commit the new workflow file and push it:</a:t>
            </a:r>
          </a:p>
          <a:p>
            <a:r>
              <a:rPr lang="en-US" sz="1400" dirty="0"/>
              <a:t>```bash</a:t>
            </a:r>
          </a:p>
          <a:p>
            <a:r>
              <a:rPr lang="en-US" sz="1400" dirty="0"/>
              <a:t>git add .</a:t>
            </a:r>
            <a:r>
              <a:rPr lang="en-US" sz="1400" dirty="0" err="1"/>
              <a:t>github</a:t>
            </a:r>
            <a:r>
              <a:rPr lang="en-US" sz="1400" dirty="0"/>
              <a:t>/workflows/</a:t>
            </a:r>
            <a:r>
              <a:rPr lang="en-US" sz="1400" dirty="0" err="1"/>
              <a:t>deploy.yml</a:t>
            </a:r>
            <a:endParaRPr lang="en-US" sz="1400" dirty="0"/>
          </a:p>
          <a:p>
            <a:r>
              <a:rPr lang="en-US" sz="1400" dirty="0"/>
              <a:t>git commit -m "Add GitHub Actions CD deployment workflow"</a:t>
            </a:r>
          </a:p>
          <a:p>
            <a:r>
              <a:rPr lang="en-US" sz="1400" dirty="0"/>
              <a:t>git push origin main</a:t>
            </a:r>
          </a:p>
        </p:txBody>
      </p:sp>
    </p:spTree>
    <p:extLst>
      <p:ext uri="{BB962C8B-B14F-4D97-AF65-F5344CB8AC3E}">
        <p14:creationId xmlns:p14="http://schemas.microsoft.com/office/powerpoint/2010/main" val="1367217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1307</Words>
  <Application>Microsoft Office PowerPoint</Application>
  <PresentationFormat>Custom</PresentationFormat>
  <Paragraphs>147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Saiful islam</cp:lastModifiedBy>
  <cp:revision>8</cp:revision>
  <dcterms:created xsi:type="dcterms:W3CDTF">2013-01-27T09:14:16Z</dcterms:created>
  <dcterms:modified xsi:type="dcterms:W3CDTF">2026-06-17T02:42:45Z</dcterms:modified>
  <cp:category/>
</cp:coreProperties>
</file>